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/>
              <a:t> Title SlideTitle: Automated Enterprise Onboarding Solution Subtitle: Streamlining IT Service Management with ServiceNow Presented by: Ariful Mondal 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8030"/>
            <a:ext cx="10515600" cy="3738880"/>
          </a:xfrm>
        </p:spPr>
        <p:txBody>
          <a:bodyPr>
            <a:noAutofit/>
          </a:bodyPr>
          <a:p>
            <a:r>
              <a:rPr lang="en-US" altLang="en-US" sz="3600"/>
              <a:t>The Problem Statement (The "Why")</a:t>
            </a:r>
            <a:br>
              <a:rPr lang="en-US" altLang="en-US" sz="3600"/>
            </a:br>
            <a:r>
              <a:rPr lang="en-US" altLang="en-US" sz="3600"/>
              <a:t>Manual Bottlenecks: Explain that manual onboarding leads to delays in equipment and account access.</a:t>
            </a:r>
            <a:br>
              <a:rPr lang="en-US" altLang="en-US" sz="3600"/>
            </a:br>
            <a:br>
              <a:rPr lang="en-US" altLang="en-US" sz="3600"/>
            </a:br>
            <a:r>
              <a:rPr lang="en-US" altLang="en-US" sz="3600"/>
              <a:t>Risk: High chance of human error and inconsistent user experience for new hires.</a:t>
            </a:r>
            <a:br>
              <a:rPr lang="en-US" altLang="en-US" sz="3600"/>
            </a:br>
            <a:br>
              <a:rPr lang="en-US" altLang="en-US" sz="3600"/>
            </a:br>
            <a:r>
              <a:rPr lang="en-US" altLang="en-US" sz="3600"/>
              <a:t>Goal: To create a "Zero-Touch" ticket generation system for seamless onboarding.</a:t>
            </a:r>
            <a:endParaRPr lang="en-US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" y="2103120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/>
              <a:t>Solution </a:t>
            </a:r>
            <a:r>
              <a:rPr lang="en-US" altLang="en-US" sz="4000"/>
              <a:t>Architecture</a:t>
            </a:r>
            <a:br>
              <a:rPr lang="en-US" altLang="en-US" sz="4000"/>
            </a:br>
            <a:r>
              <a:rPr lang="en-US" altLang="en-US" sz="4000"/>
              <a:t>Front</a:t>
            </a:r>
            <a:r>
              <a:rPr lang="en-US" altLang="en-US"/>
              <a:t>-End: Service Catalog with dynamic UI Policies.Logic Engine: Flow Designer for backend automation.Process: Aligned with ITIL V4 Request Management standards.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4335"/>
            <a:ext cx="10515600" cy="1909445"/>
          </a:xfrm>
        </p:spPr>
        <p:txBody>
          <a:bodyPr>
            <a:normAutofit fontScale="90000"/>
          </a:bodyPr>
          <a:p>
            <a:r>
              <a:rPr lang="en-US" altLang="en-US" sz="2400"/>
              <a:t>User Experience (The Form)</a:t>
            </a:r>
            <a:br>
              <a:rPr lang="en-US" altLang="en-US" sz="2400"/>
            </a:br>
            <a:br>
              <a:rPr lang="en-US" altLang="en-US" sz="2400"/>
            </a:br>
            <a:r>
              <a:rPr lang="en-US" altLang="en-US" sz="2400"/>
              <a:t>Point 1: Clean interface using a single-page request form.</a:t>
            </a:r>
            <a:br>
              <a:rPr lang="en-US" altLang="en-US" sz="2400"/>
            </a:br>
            <a:br>
              <a:rPr lang="en-US" altLang="en-US" sz="2400"/>
            </a:br>
            <a:r>
              <a:rPr lang="en-US" altLang="en-US" sz="2400"/>
              <a:t>Point 2: Field visibility logic—hardware options only appear when requested, reducing form clutter.</a:t>
            </a:r>
            <a:endParaRPr lang="en-US" altLang="en-US" sz="2400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" y="2557145"/>
            <a:ext cx="5791200" cy="3542030"/>
          </a:xfrm>
          <a:prstGeom prst="rect">
            <a:avLst/>
          </a:prstGeom>
        </p:spPr>
      </p:pic>
      <p:pic>
        <p:nvPicPr>
          <p:cNvPr id="5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2557145"/>
            <a:ext cx="6009640" cy="3541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635"/>
            <a:ext cx="10515600" cy="864235"/>
          </a:xfrm>
        </p:spPr>
        <p:txBody>
          <a:bodyPr>
            <a:normAutofit fontScale="90000"/>
          </a:bodyPr>
          <a:p>
            <a:r>
              <a:rPr lang="en-US" altLang="en-US" sz="2220"/>
              <a:t>The Automation Engine (The Flow)</a:t>
            </a:r>
            <a:br>
              <a:rPr lang="en-US" altLang="en-US" sz="2220"/>
            </a:br>
            <a:br>
              <a:rPr lang="en-US" altLang="en-US" sz="2220"/>
            </a:br>
            <a:r>
              <a:rPr lang="en-US" altLang="en-US" sz="2220"/>
              <a:t>Trigger: Instant start upon "Order Now."</a:t>
            </a:r>
            <a:br>
              <a:rPr lang="en-US" altLang="en-US" sz="2220"/>
            </a:br>
            <a:r>
              <a:rPr lang="en-US" altLang="en-US" sz="2220"/>
              <a:t>Decision Logic: Explain the If/Then branch for the hardware team.</a:t>
            </a:r>
            <a:br>
              <a:rPr lang="en-US" altLang="en-US" sz="2220"/>
            </a:br>
            <a:r>
              <a:rPr lang="en-US" altLang="en-US" sz="2220"/>
              <a:t>Efficiency: Multiple teams (IT and Hardware) receive tasks simultaneously, not sequentially.</a:t>
            </a:r>
            <a:endParaRPr lang="en-US" altLang="en-US" sz="2220"/>
          </a:p>
        </p:txBody>
      </p:sp>
      <p:pic>
        <p:nvPicPr>
          <p:cNvPr id="8" name="Picture 7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670" y="1732915"/>
            <a:ext cx="4258310" cy="2262505"/>
          </a:xfrm>
          <a:prstGeom prst="rect">
            <a:avLst/>
          </a:prstGeom>
        </p:spPr>
      </p:pic>
      <p:pic>
        <p:nvPicPr>
          <p:cNvPr id="9" name="Picture 8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680" y="1732915"/>
            <a:ext cx="4258310" cy="2262505"/>
          </a:xfrm>
          <a:prstGeom prst="rect">
            <a:avLst/>
          </a:prstGeom>
        </p:spPr>
      </p:pic>
      <p:pic>
        <p:nvPicPr>
          <p:cNvPr id="10" name="Picture 9" descr="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140" y="4144645"/>
            <a:ext cx="4563110" cy="239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US" sz="2665"/>
              <a:t>R</a:t>
            </a:r>
            <a:r>
              <a:rPr lang="en-US" altLang="en-US" sz="2665"/>
              <a:t>esults &amp; Success Metrics</a:t>
            </a:r>
            <a:br>
              <a:rPr lang="en-US" altLang="en-US" sz="2665"/>
            </a:br>
            <a:r>
              <a:rPr lang="en-US" altLang="en-US" sz="2665"/>
              <a:t>Proof of Work: Show the "Complete" status of the execution.</a:t>
            </a:r>
            <a:br>
              <a:rPr lang="en-US" altLang="en-US" sz="2665"/>
            </a:br>
            <a:r>
              <a:rPr lang="en-US" altLang="en-US" sz="2665"/>
              <a:t>Key Outcome: Simulated reduction in manual ticket handling and improved data accuracy.</a:t>
            </a:r>
            <a:endParaRPr lang="en-US" altLang="en-US" sz="2665"/>
          </a:p>
        </p:txBody>
      </p:sp>
      <p:pic>
        <p:nvPicPr>
          <p:cNvPr id="4" name="Picture 3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950" y="2039620"/>
            <a:ext cx="7658735" cy="40684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WPS Presentation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arifu</dc:creator>
  <cp:lastModifiedBy>Ariful Mondal</cp:lastModifiedBy>
  <cp:revision>3</cp:revision>
  <dcterms:created xsi:type="dcterms:W3CDTF">2025-07-23T00:59:00Z</dcterms:created>
  <dcterms:modified xsi:type="dcterms:W3CDTF">2026-04-26T15:31:15Z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6B635CC9F92942E19E8C657FB30C2E2C_11</vt:lpwstr>
  </property>
  <property fmtid="{D5CDD505-2E9C-101B-9397-08002B2CF9AE}" pid="3" name="KSOProductBuildVer">
    <vt:lpwstr>1033-12.1.0.25242</vt:lpwstr>
  </property>
</Properties>
</file>